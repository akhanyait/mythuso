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 at month 18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Subscriptions</c:v>
                </c:pt>
                <c:pt idx="1">
                  <c:v>Visit fees</c:v>
                </c:pt>
                <c:pt idx="2">
                  <c:v>Pharma &amp; schemes</c:v>
                </c:pt>
                <c:pt idx="3">
                  <c:v>Employers, hospitals, gov</c:v>
                </c:pt>
                <c:pt idx="4">
                  <c:v>Tests, devices, rentals</c:v>
                </c:pt>
                <c:pt idx="5">
                  <c:v>Locum, vouchers, 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75-8646-A909-597F2114B9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A1-044E-BA78-AA9EB83D8C33}"/>
              </c:ext>
            </c:extLst>
          </c:dPt>
          <c:dPt>
            <c:idx val="1"/>
            <c:bubble3D val="0"/>
            <c:spPr>
              <a:solidFill>
                <a:srgbClr val="FFB3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A1-044E-BA78-AA9EB83D8C33}"/>
              </c:ext>
            </c:extLst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A1-044E-BA78-AA9EB83D8C33}"/>
              </c:ext>
            </c:extLst>
          </c:dPt>
          <c:dPt>
            <c:idx val="3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A1-044E-BA78-AA9EB83D8C33}"/>
              </c:ext>
            </c:extLst>
          </c:dPt>
          <c:dPt>
            <c:idx val="4"/>
            <c:bubble3D val="0"/>
            <c:spPr>
              <a:solidFill>
                <a:srgbClr val="FFFF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A1-044E-BA78-AA9EB83D8C33}"/>
              </c:ext>
            </c:extLst>
          </c:dPt>
          <c:dPt>
            <c:idx val="5"/>
            <c:bubble3D val="0"/>
            <c:spPr>
              <a:solidFill>
                <a:srgbClr val="FDE6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1A1-044E-BA78-AA9EB83D8C33}"/>
              </c:ext>
            </c:extLst>
          </c:dPt>
          <c:dPt>
            <c:idx val="6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1A1-044E-BA78-AA9EB83D8C33}"/>
              </c:ext>
            </c:extLst>
          </c:dPt>
          <c:dPt>
            <c:idx val="7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1A1-044E-BA78-AA9EB83D8C33}"/>
              </c:ext>
            </c:extLst>
          </c:dPt>
          <c:dPt>
            <c:idx val="8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1A1-044E-BA78-AA9EB83D8C3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A1-044E-BA78-AA9EB83D8C3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A1-044E-BA78-AA9EB83D8C3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A1-044E-BA78-AA9EB83D8C3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1A1-044E-BA78-AA9EB83D8C3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1A1-044E-BA78-AA9EB83D8C33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1A1-044E-BA78-AA9EB83D8C33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1A1-044E-BA78-AA9EB83D8C33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1A1-044E-BA78-AA9EB83D8C33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1A1-044E-BA78-AA9EB83D8C3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Technology &amp; AI</c:v>
                </c:pt>
                <c:pt idx="1">
                  <c:v>Devices &amp; consumables</c:v>
                </c:pt>
                <c:pt idx="2">
                  <c:v>Own devices to pilot</c:v>
                </c:pt>
                <c:pt idx="3">
                  <c:v>Clinical &amp; medical leadership</c:v>
                </c:pt>
                <c:pt idx="4">
                  <c:v>Operations &amp; support</c:v>
                </c:pt>
                <c:pt idx="5">
                  <c:v>Marketing &amp; activation</c:v>
                </c:pt>
                <c:pt idx="6">
                  <c:v>Doctor review panel</c:v>
                </c:pt>
                <c:pt idx="7">
                  <c:v>Regulatory, legal, insurance</c:v>
                </c:pt>
                <c:pt idx="8">
                  <c:v>Contingency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1.65</c:v>
                </c:pt>
                <c:pt idx="1">
                  <c:v>2.2000000000000002</c:v>
                </c:pt>
                <c:pt idx="2">
                  <c:v>1.85</c:v>
                </c:pt>
                <c:pt idx="3">
                  <c:v>1.2</c:v>
                </c:pt>
                <c:pt idx="4">
                  <c:v>0.7</c:v>
                </c:pt>
                <c:pt idx="5">
                  <c:v>0.65</c:v>
                </c:pt>
                <c:pt idx="6">
                  <c:v>0.65</c:v>
                </c:pt>
                <c:pt idx="7">
                  <c:v>0.42</c:v>
                </c:pt>
                <c:pt idx="8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1A1-044E-BA78-AA9EB83D8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99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story on the next slide. Keep this slide up while people settle.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personally. Pause after the line about your father.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9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727549-99C9-0F8A-8873-3FFEB3026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643" y="-274320"/>
            <a:ext cx="5488357" cy="6858000"/>
          </a:xfrm>
          <a:prstGeom prst="rect">
            <a:avLst/>
          </a:prstGeom>
        </p:spPr>
      </p:pic>
      <p:pic>
        <p:nvPicPr>
          <p:cNvPr id="2" name="bg-log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234440"/>
            <a:ext cx="1463040" cy="1463040"/>
          </a:xfrm>
          <a:prstGeom prst="rect">
            <a:avLst/>
          </a:prstGeom>
        </p:spPr>
      </p:pic>
      <p:sp>
        <p:nvSpPr>
          <p:cNvPr id="3" name="bg-word"/>
          <p:cNvSpPr txBox="1"/>
          <p:nvPr/>
        </p:nvSpPr>
        <p:spPr>
          <a:xfrm>
            <a:off x="2468880" y="12344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256032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4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Help. Health. Home.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749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Nurse-led, AI-assisted primary healthcare delivered to the home — for the families who need it most, and the nurses and doctors who need the work.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proposal  ·  R9.7 million  ·  September 2026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Makinana, Founder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am building this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766560" cy="448056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691640"/>
            <a:ext cx="6217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born and raised in Gugulethu. My mother still lives there. She is in her late seventies, with a heart condition and high blood pressure. Every month she has to get to the clinic — a taxi, a queue that lasts most of the day, a long walk home.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in Johannesburg. Medical aid will not take her at her age. I lost my father during COVID; I believe a nurse at his side with a doctor a call away would have given him a far better chance.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millions of us — children in the cities who would pay for a trusted person to care for our parents, and thousands of nurses and doctors in those same communities who cannot find work. MyThuso puts the two together.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21945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first MyThuso for Mom customer will be my mother."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Gilbert Makinana</a:t>
            </a:r>
            <a:endParaRPr lang="en-US" sz="1400" dirty="0"/>
          </a:p>
        </p:txBody>
      </p:sp>
      <p:sp>
        <p:nvSpPr>
          <p:cNvPr id="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cannot reach care; thousands of trained people cannot reach 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84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have no medical aid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50 million South Africans depend on public clinics: 4–6 hour queues, a taxi fare and a lost day for a 10-minute task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148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84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is caught late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diabetes, HIV and TB affect over 15 million people who need monthly monitoring most never get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4348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70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out of reach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37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the city cannot find anyone trustworthy to care for ageing parents in townships and villages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37960" y="4297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434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270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and doctors without work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4937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doctors finish community service without posts each year; thousands of nurses are unemployed or under-employed</a:t>
            </a:r>
            <a:endParaRPr lang="en-US" sz="1200" dirty="0"/>
          </a:p>
        </p:txBody>
      </p:sp>
      <p:sp>
        <p:nvSpPr>
          <p:cNvPr id="24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at the door in under an hour, a doctor on the screen, your record in your pocket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37360"/>
            <a:ext cx="1088136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506349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marketplace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verified nurse, live ETA, fixed price, OTP completion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2900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730" y="506349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2336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diagnostic kit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02336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checks captured digitally on every visit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21792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506349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1228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screens, doctor decides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81228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 in seconds; a registered doctor signs every result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900684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2570" y="5063490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0120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Passport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960120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patient-owned record that grows with every visit</a:t>
            </a:r>
            <a:endParaRPr lang="en-US" sz="1100" dirty="0"/>
          </a:p>
        </p:txBody>
      </p:sp>
      <p:sp>
        <p:nvSpPr>
          <p:cNvPr id="21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for Mom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remittance for care — paid by the child in the city, delivered to the parent at home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R399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nurse visit · medicine collected and delivered · WhatsApp report and photo after every visit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7472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381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visits · doctor review of every visit · Thuso Band with SOS · one urgent call-out · quarterly screening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1248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R1,299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visits · Thuso Home video station · pill dispenser · carer hours · priority SOS · family dashboard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nurse every visit · CCMDD and pharmacy collection · siblings split the bill · sold at taxi ranks, churches, stokvels, employers and to the diaspora</a:t>
            </a:r>
            <a:endParaRPr lang="en-US" sz="1300" dirty="0"/>
          </a:p>
        </p:txBody>
      </p:sp>
      <p:sp>
        <p:nvSpPr>
          <p:cNvPr id="20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five interfaces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Family · Nurse · Doctor · Partners · Control Tower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6949440" cy="35387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691640"/>
            <a:ext cx="3840480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42062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nurse app · WhatsApp and USSD for families without smartphones · eleven languages · cash and card</a:t>
            </a:r>
            <a:endParaRPr lang="en-US" sz="1200" dirty="0"/>
          </a:p>
        </p:txBody>
      </p:sp>
      <p:sp>
        <p:nvSpPr>
          <p:cNvPr id="7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make it stick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how South African families actually live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19888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56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&amp; voice booking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*120# and a call line in eleven languages for parents on feature phones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9888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56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Line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dispatchers on phone and WhatsApp who also sell the Mom plans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19888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56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video moments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20-second clip of Mom after every visit — the retention feature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2004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349758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364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safety suite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button, check-in timers, trip sharing, evening escort pairing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2004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0" y="33832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349758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6360" y="3364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interaction checker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clashes across clinic, private and pharmacy scripts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2004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21040" y="33832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340" y="349758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15400" y="3364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rewards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Airtime and data for taking medicines and keeping visits, pharma-funded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" y="500634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17320" y="4873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tracker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82296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hospital referral to its outcome — nobody does this today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38912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4572000" y="48920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6300" y="5006340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166360" y="4873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Stokvel &amp; church admin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457200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treasurer manages members, contributions and screening days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813816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8321040" y="48920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5340" y="5006340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915400" y="4873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impact dashboard</a:t>
            </a:r>
            <a:endParaRPr lang="en-US" sz="1350" dirty="0"/>
          </a:p>
        </p:txBody>
      </p:sp>
      <p:sp>
        <p:nvSpPr>
          <p:cNvPr id="48" name="Text 37"/>
          <p:cNvSpPr txBox="1"/>
          <p:nvPr/>
        </p:nvSpPr>
        <p:spPr>
          <a:xfrm>
            <a:off x="832104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jobs, visits and diagnoses — a fundraising tool in itself</a:t>
            </a:r>
            <a:endParaRPr lang="en-US" sz="1100" dirty="0"/>
          </a:p>
        </p:txBody>
      </p:sp>
      <p:sp>
        <p:nvSpPr>
          <p:cNvPr id="49" name="bg-note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specification: load-shedding-aware scheduling · rural route optimisation · community health worker mode · emergency ICE sticker · voice-first triage · children's Road-to-Health passport</a:t>
            </a:r>
            <a:endParaRPr lang="en-US" sz="10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AI — the AI screens, the doctor decides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home-captured tests, every one reviewed by a registered doctor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55064"/>
            <a:ext cx="6766560" cy="2432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73736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26680" y="17373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Vital-sign risk score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692640" y="173736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738360" y="17373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/ HbA1c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680960" y="230428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26680" y="23042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Single-lead ECG (AF)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692640" y="230428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738360" y="23042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imaging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80960" y="287121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726680" y="28712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triage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692640" y="287121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738360" y="28712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strip reading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80960" y="3438144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2668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tests (HIV, syphilis, malaria)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692640" y="3438144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73836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Anaemia screening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80960" y="4005072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726680" y="4005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&amp; lung sounds (TB)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692640" y="4005072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738360" y="4005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eye screening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680960" y="457200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726680" y="45720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Antenatal ultrasound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692640" y="457200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9738360" y="45720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growth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680960" y="513892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726680" y="5138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prediction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692640" y="513892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9738360" y="5138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assistant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4389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flags reach a doctor in 15 minutes · routine reviews in 4 hours · every doctor decision trains the next model · SAHPRA pathway for diagnostic software</a:t>
            </a:r>
            <a:endParaRPr lang="en-US" sz="1250" dirty="0"/>
          </a:p>
        </p:txBody>
      </p:sp>
      <p:sp>
        <p:nvSpPr>
          <p:cNvPr id="34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5G-connected devices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South African homes: load-shedding, no data, no smartphone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5486400" cy="24140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91640"/>
            <a:ext cx="5303520" cy="188366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703320"/>
            <a:ext cx="5303520" cy="207568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40080" y="42519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Pod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handheld, twelve checks, edge AI, 5G eSIM, NFC tap-in. R1,800 target BOM vs R8,000 of bought kit.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Band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wristband with its own eSIM, SOS button, fall detection. R550.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Home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video consults, pill dispenser, solar backup, household 5G router. R2,400.</a:t>
            </a:r>
            <a:endParaRPr lang="en-US" sz="1250" dirty="0"/>
          </a:p>
        </p:txBody>
      </p:sp>
      <p:sp>
        <p:nvSpPr>
          <p:cNvPr id="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screening at home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clinic collects, collected in the kitchen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10-parameter strip, pregnancy, microalbumin, drug screen → UTI, diabetes, kidney, pre-eclampsia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H. pylori, rotavirus, calprotectin → colorectal cancer, ulcers, IBD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&amp; saliva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4652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HIV, COVID/flu, strep, drug test, AI oral-cancer photo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23544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103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2124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Fingerprick glucose, HbA1c, lipids, Hb, HIV/syphilis, hep B/C, malaria, CRP, creatinine; venous to lab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789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Screen packages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(HPV self-sample) · Breast (exam + handheld scanner) · Colorectal · Prostate · Oral · Skin · Lung · Cardiovascular · Kidney · TB &amp; HIV · Mental health · Cognitive · Vision &amp; hearing · Antenatal · Occupational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R699 · Men's R649 · Senior R799 · Family R999 · Worker R350–R550 · Community screens sponsored</a:t>
            </a:r>
            <a:endParaRPr lang="en-US" sz="1250" dirty="0"/>
          </a:p>
        </p:txBody>
      </p:sp>
      <p:sp>
        <p:nvSpPr>
          <p:cNvPr id="2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jobs engine for nurses and doctors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is a micro-enterprise on the platform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nurse-entrepreneurs by month 18, keeping 75% of every visit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earning from the review panel, telehealth, home visits and virtual practices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R2.5k+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can earn per day clearing the review queue from home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visit fees paid to the nurse, weekly, no admin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057650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229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Micro-enterprise back office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CIPC, SARS, CSD, banking, invoicing handled by the app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2900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1188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610" y="405765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61188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of trade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61188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on rent-to-own or grant-funded; owned after 12 months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530" y="4057650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0080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while you learn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HWSETA learnerships: carer → EN → RN → Lead → Circuit owner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00684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18972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5450" y="405765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897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cover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918972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indemnity, income protection, panic button, check-in timers</a:t>
            </a:r>
            <a:endParaRPr lang="en-US" sz="1100" dirty="0"/>
          </a:p>
        </p:txBody>
      </p:sp>
      <p:sp>
        <p:nvSpPr>
          <p:cNvPr id="32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besides families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Pharma, schemes, employers and government fund what MyThuso produces anyway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companies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screening finds undiagnosed patients · Patient Support Programmes at R150–R400 per patient per month · real-world evidence · trial recruitment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 · Adcock · Cipla · Sanofi · Novartis · Novo Nordisk · Abbott · Roche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103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schemes &amp; insurers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capitation R120–R250 pmpm · hospital-at-home and post-discharge · low-cost benefit options · wellness and screening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Dis-Chem Health · Kaelo · Bonitas · Medihelp · Discovery · GEMS (tender)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73736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6676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256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funders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HWSETA, UIF LAP, Jobs Fund, YES, NYDA, DSBD/sefa, ESD, TIA, DSD home-care subsidies, DoH outreach contracts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R2m–R5m non-equity co-funding in 18 months</a:t>
            </a:r>
            <a:endParaRPr lang="en-US" sz="1050" dirty="0"/>
          </a:p>
        </p:txBody>
      </p:sp>
      <p:sp>
        <p:nvSpPr>
          <p:cNvPr id="22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Big, underserved, and already paying for on-demand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without medical aid who depend on public clinics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with hypertension, diabetes, HIV or TB needing monthly care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births a year; a fast-growing elderly population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 beneficiaries alone, procured by tender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383280"/>
            <a:ext cx="4206240" cy="268833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8096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Soweto, Roodepoort/Randburg, Tembisa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39776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Pretoria and Ekurhuleni, Cape Town starting in Gugulethu, and rural Circuits along the corridors Johannesburg's workforce comes from: Limpopo, Eastern Cape, KZN, North West.</a:t>
            </a:r>
            <a:endParaRPr lang="en-US" sz="1250" dirty="0"/>
          </a:p>
        </p:txBody>
      </p:sp>
      <p:sp>
        <p:nvSpPr>
          <p:cNvPr id="15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revenue streams — no single stream above a third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37360"/>
            <a:ext cx="45720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237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37744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R299 visit → nurse R224 → fees R9 → MyThuso R66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plans: R80–R400 retained per parent per month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 paid per case from bundles and plans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9: 100 visits/day, 2,000 subs → break-even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15: 300 visits/day, 6,000 subs → R1.15m/month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1,000 visits/day, 3 cities → R4m/month</a:t>
            </a:r>
            <a:endParaRPr lang="en-US" sz="1300" dirty="0"/>
          </a:p>
        </p:txBody>
      </p:sp>
      <p:sp>
        <p:nvSpPr>
          <p:cNvPr id="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months to a national platform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released in three tranches against five milestones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37360"/>
            <a:ext cx="10881360" cy="3264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50 RNs, v1 live, 20 doctors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2928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2898648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500 visits, zero incidents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65776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111496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100/day, 2,000 subs, AI bundle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278624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324344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200/day, first insurer &amp; pharma contracts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491472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537192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300/day, 500 RNs, Cape Town, device pilot</a:t>
            </a:r>
            <a:endParaRPr lang="en-US" sz="1050" dirty="0"/>
          </a:p>
        </p:txBody>
      </p:sp>
      <p:sp>
        <p:nvSpPr>
          <p:cNvPr id="15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R9.7 million seed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R2m–R5m in grant and enterprise-development co-funding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56692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82880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122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1 · R3.0m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and launch: M1–M2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0" y="306324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1228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 · R3.9m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and ecosystem: M3–M4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0" y="429768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12280" y="4389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3 · R2.8m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devices: M5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5577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Lab and volume manufacturing are Series A items · natural Series A partners: insurers, pharmacy groups, hospital groups, impact funds</a:t>
            </a:r>
            <a:endParaRPr lang="en-US" sz="1100" dirty="0"/>
          </a:p>
        </p:txBody>
      </p:sp>
      <p:sp>
        <p:nvSpPr>
          <p:cNvPr id="15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in 18 months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be able to say to a Minister, a funder and a family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health micro-enterprises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nurses, doctors and carers, most previously unemployed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diagnosis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cancer, hypertension, diabetes, kidney, TB, HIV caught at home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6676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Decongested clinics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tasks moved out of public queues; fewer readmissions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reach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pensioners in villages cared for, paid for by their children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7720" y="4160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layer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by area for schemes, pharma and provincial planning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66760" y="4160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NHI-ready infrastructure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contractable community primary-care network</a:t>
            </a:r>
            <a:endParaRPr lang="en-US" sz="1200" dirty="0"/>
          </a:p>
        </p:txBody>
      </p:sp>
      <p:sp>
        <p:nvSpPr>
          <p:cNvPr id="34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Makinana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· software entrepreneur · Director, Akhanya IT Innovations (Level 1 B-BBEE)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Governance Lead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RN, 10+ years · protocols, vetting, incidents · appointed at funding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37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HPCSA doctor · doctor panel and AI governance · appointed at funding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4652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Akhanya development team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337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operates the platform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548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MyThuso and the NPO · appoint Clinical Lead and Medical Director · 50 RNs and 20 doctors · one pharmacy, one lab · v1 live · pilot in Soweto, Roodepoort and Tembisa</a:t>
            </a:r>
            <a:endParaRPr lang="en-US" sz="1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389120"/>
            <a:ext cx="1554480" cy="15544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gilbert@akhanya.co.za · +27 79 077 1591</a:t>
            </a:r>
            <a:endParaRPr lang="en-US" sz="1300" dirty="0"/>
          </a:p>
        </p:txBody>
      </p:sp>
      <p:sp>
        <p:nvSpPr>
          <p:cNvPr id="19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2058</Words>
  <Application>Microsoft Macintosh PowerPoint</Application>
  <PresentationFormat>Widescreen</PresentationFormat>
  <Paragraphs>236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gilbert Makinana</cp:lastModifiedBy>
  <cp:revision>5</cp:revision>
  <dcterms:created xsi:type="dcterms:W3CDTF">2026-09-06T13:37:46Z</dcterms:created>
  <dcterms:modified xsi:type="dcterms:W3CDTF">2026-09-06T13:43:36Z</dcterms:modified>
</cp:coreProperties>
</file>